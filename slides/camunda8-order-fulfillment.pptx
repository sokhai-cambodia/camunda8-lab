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8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2151B"/>
                </a:solidFill>
                <a:latin typeface="Consolas"/>
              </a:rPr>
              <a:t>Camunda 8,
running for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66073"/>
                </a:solidFill>
                <a:latin typeface="Segoe UI"/>
              </a:rPr>
              <a:t>A hands-on exploration: one BPMN process, a Python worker, in/outbound connectors, a DMN decision, a form, and every boundary event type -- deployed, run, and broken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66073"/>
                </a:solidFill>
                <a:latin typeface="Consolas"/>
              </a:rPr>
              <a:t>Zeebe · Operate · Tasklist  —  localhost:8080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WHY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2151B"/>
                </a:solidFill>
                <a:latin typeface="Consolas"/>
              </a:rPr>
              <a:t>Business logic, scattered.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914400" cy="365760"/>
          </a:xfrm>
          <a:prstGeom prst="roundRect">
            <a:avLst/>
          </a:prstGeom>
          <a:noFill/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8871F"/>
                </a:solidFill>
                <a:latin typeface="Consolas"/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9326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2151B"/>
                </a:solidFill>
                <a:latin typeface="Segoe UI"/>
              </a:rPr>
              <a:t>Process steps live inside cron jobs, message handlers, and tribal knowledge -- no single place shows what a process actually does.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17520"/>
            <a:ext cx="914400" cy="365760"/>
          </a:xfrm>
          <a:prstGeom prst="roundRect">
            <a:avLst/>
          </a:prstGeom>
          <a:noFill/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8871F"/>
                </a:solidFill>
                <a:latin typeface="Consolas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017520"/>
            <a:ext cx="9326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2151B"/>
                </a:solidFill>
                <a:latin typeface="Segoe UI"/>
              </a:rPr>
              <a:t>When something is stuck, you grep logs across five services to find out why.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023360"/>
            <a:ext cx="914400" cy="365760"/>
          </a:xfrm>
          <a:prstGeom prst="roundRect">
            <a:avLst/>
          </a:prstGeom>
          <a:noFill/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8871F"/>
                </a:solidFill>
                <a:latin typeface="Consolas"/>
              </a:rP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023360"/>
            <a:ext cx="9326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2151B"/>
                </a:solidFill>
                <a:latin typeface="Segoe UI"/>
              </a:rPr>
              <a:t>Changing the order of steps means a code change, a review, and a deploy.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Camunda 8 · order-fulfillment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2151B"/>
                </a:solidFill>
                <a:latin typeface="Consolas"/>
              </a:rPr>
              <a:t>One diagram, executed.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66073"/>
                </a:solidFill>
                <a:latin typeface="Segoe UI"/>
              </a:rPr>
              <a:t>BPMN isn't documentation of the process -- it IS the process.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8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27000"/>
          <a:lstStyle/>
          <a:p>
            <a:pPr algn="ctr"/>
            <a:r>
              <a:rPr sz="1500" b="1">
                <a:solidFill>
                  <a:srgbClr val="12151B"/>
                </a:solidFill>
                <a:latin typeface="Consolas"/>
              </a:rPr>
              <a:t>BPMN</a:t>
            </a:r>
          </a:p>
          <a:p>
            <a:r>
              <a:rPr sz="1050">
                <a:solidFill>
                  <a:srgbClr val="566073"/>
                </a:solidFill>
                <a:latin typeface="Segoe UI"/>
              </a:rPr>
              <a:t>The diagram. Defines steps, order, and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33172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8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27000"/>
          <a:lstStyle/>
          <a:p>
            <a:pPr algn="ctr"/>
            <a:r>
              <a:rPr sz="1500" b="1">
                <a:solidFill>
                  <a:srgbClr val="12151B"/>
                </a:solidFill>
                <a:latin typeface="Consolas"/>
              </a:rPr>
              <a:t>Zeebe</a:t>
            </a:r>
          </a:p>
          <a:p>
            <a:r>
              <a:rPr sz="1050">
                <a:solidFill>
                  <a:srgbClr val="566073"/>
                </a:solidFill>
                <a:latin typeface="Segoe UI"/>
              </a:rPr>
              <a:t>The engine. Runs instances, scales horizontally.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33172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8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27000"/>
          <a:lstStyle/>
          <a:p>
            <a:pPr algn="ctr"/>
            <a:r>
              <a:rPr sz="1500" b="1">
                <a:solidFill>
                  <a:srgbClr val="12151B"/>
                </a:solidFill>
                <a:latin typeface="Consolas"/>
              </a:rPr>
              <a:t>DMN</a:t>
            </a:r>
          </a:p>
          <a:p>
            <a:r>
              <a:rPr sz="1050">
                <a:solidFill>
                  <a:srgbClr val="566073"/>
                </a:solidFill>
                <a:latin typeface="Segoe UI"/>
              </a:rPr>
              <a:t>Decision tables, modeled separately. A business rule task calls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9476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27000"/>
          <a:lstStyle/>
          <a:p>
            <a:pPr algn="ctr"/>
            <a:r>
              <a:rPr sz="1500" b="1">
                <a:solidFill>
                  <a:srgbClr val="12151B"/>
                </a:solidFill>
                <a:latin typeface="Consolas"/>
              </a:rPr>
              <a:t>Connectors</a:t>
            </a:r>
          </a:p>
          <a:p>
            <a:r>
              <a:rPr sz="1050">
                <a:solidFill>
                  <a:srgbClr val="566073"/>
                </a:solidFill>
                <a:latin typeface="Segoe UI"/>
              </a:rPr>
              <a:t>Prebuilt steps, configured not coded -- outbound (Charge Payment) and inbound (webhook).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79476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27000"/>
          <a:lstStyle/>
          <a:p>
            <a:pPr algn="ctr"/>
            <a:r>
              <a:rPr sz="1500" b="1">
                <a:solidFill>
                  <a:srgbClr val="12151B"/>
                </a:solidFill>
                <a:latin typeface="Consolas"/>
              </a:rPr>
              <a:t>Forms</a:t>
            </a:r>
          </a:p>
          <a:p>
            <a:r>
              <a:rPr sz="1050">
                <a:solidFill>
                  <a:srgbClr val="566073"/>
                </a:solidFill>
                <a:latin typeface="Segoe UI"/>
              </a:rPr>
              <a:t>A JSON schema on a user task -- Tasklist renders it, no frontend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79476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27000"/>
          <a:lstStyle/>
          <a:p>
            <a:pPr algn="ctr"/>
            <a:r>
              <a:rPr sz="1500" b="1">
                <a:solidFill>
                  <a:srgbClr val="12151B"/>
                </a:solidFill>
                <a:latin typeface="Consolas"/>
              </a:rPr>
              <a:t>Boundary events</a:t>
            </a:r>
          </a:p>
          <a:p>
            <a:r>
              <a:rPr sz="1050">
                <a:solidFill>
                  <a:srgbClr val="566073"/>
                </a:solidFill>
                <a:latin typeface="Segoe UI"/>
              </a:rPr>
              <a:t>Timer, error, and message -- three ways to interrupt a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5780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27000"/>
          <a:lstStyle/>
          <a:p>
            <a:pPr algn="ctr"/>
            <a:r>
              <a:rPr sz="1500" b="1">
                <a:solidFill>
                  <a:srgbClr val="12151B"/>
                </a:solidFill>
                <a:latin typeface="Consolas"/>
              </a:rPr>
              <a:t>Multi-instance</a:t>
            </a:r>
          </a:p>
          <a:p>
            <a:r>
              <a:rPr sz="1050">
                <a:solidFill>
                  <a:srgbClr val="566073"/>
                </a:solidFill>
                <a:latin typeface="Segoe UI"/>
              </a:rPr>
              <a:t>Run one activity per element of a collection, not once per instance.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525780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27000"/>
          <a:lstStyle/>
          <a:p>
            <a:pPr algn="ctr"/>
            <a:r>
              <a:rPr sz="1500" b="1">
                <a:solidFill>
                  <a:srgbClr val="12151B"/>
                </a:solidFill>
                <a:latin typeface="Consolas"/>
              </a:rPr>
              <a:t>Operate</a:t>
            </a:r>
          </a:p>
          <a:p>
            <a:r>
              <a:rPr sz="1050">
                <a:solidFill>
                  <a:srgbClr val="566073"/>
                </a:solidFill>
                <a:latin typeface="Segoe UI"/>
              </a:rPr>
              <a:t>Watch every instance live. See exactly where it's stuck.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5257800"/>
            <a:ext cx="35204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 rIns="127000"/>
          <a:lstStyle/>
          <a:p>
            <a:pPr algn="ctr"/>
            <a:r>
              <a:rPr sz="1500" b="1">
                <a:solidFill>
                  <a:srgbClr val="12151B"/>
                </a:solidFill>
                <a:latin typeface="Consolas"/>
              </a:rPr>
              <a:t>Tasklist</a:t>
            </a:r>
          </a:p>
          <a:p>
            <a:r>
              <a:rPr sz="1050">
                <a:solidFill>
                  <a:srgbClr val="566073"/>
                </a:solidFill>
                <a:latin typeface="Segoe UI"/>
              </a:rPr>
              <a:t>Where humans complete the manual steps.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Camunda 8 · order-fulfillment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2151B"/>
                </a:solidFill>
                <a:latin typeface="Consolas"/>
              </a:rPr>
              <a:t>Five processes, three languages.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66073"/>
                </a:solidFill>
                <a:latin typeface="Segoe UI"/>
              </a:rPr>
              <a:t>None of them know the others' internals -- only the contracts.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2377440"/>
            <a:ext cx="41148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8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orchestration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Zeebe :26500 gRPC · Operate/Tasklist :8080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31920"/>
            <a:ext cx="29260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order_service.py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Python · FastAPI · :8000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3931920"/>
            <a:ext cx="29260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connectors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:8086 · outbound + inbound webhook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983480"/>
            <a:ext cx="29260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order_workers.py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Python · pyzeebe · long-poll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4983480"/>
            <a:ext cx="292608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8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payment_service.js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Node · Express · :8001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566160" y="2880360"/>
            <a:ext cx="457200" cy="118872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566160" y="3639312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66073"/>
                </a:solidFill>
                <a:latin typeface="Consolas"/>
              </a:rPr>
              <a:t>gRPC: start / cancel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566160" y="3063240"/>
            <a:ext cx="457200" cy="228600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66160" y="5760720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66073"/>
                </a:solidFill>
                <a:latin typeface="Consolas"/>
              </a:rPr>
              <a:t>gRPC: poll / activate / complete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38160" y="2880360"/>
            <a:ext cx="548640" cy="118872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0" y="3200400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66073"/>
                </a:solidFill>
                <a:latin typeface="Consolas"/>
              </a:rPr>
              <a:t>gRPC job (built-in worker)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49840" y="4663440"/>
            <a:ext cx="0" cy="32004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149840" y="468172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66073"/>
                </a:solidFill>
                <a:latin typeface="Consolas"/>
              </a:rPr>
              <a:t>HTTP 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Camunda 8 · order-fulfillment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HOW A STEP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2151B"/>
                </a:solidFill>
                <a:latin typeface="Consolas"/>
              </a:rPr>
              <a:t>Code, or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66073"/>
                </a:solidFill>
                <a:latin typeface="Segoe UI"/>
              </a:rPr>
              <a:t>Three tasks in the same diagram, wired three different ways -- same engine, same contract.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66073"/>
                </a:solidFill>
                <a:latin typeface="Consolas"/>
              </a:rPr>
              <a:t>JOB WORKER · Ship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66073"/>
                </a:solidFill>
                <a:latin typeface="Consolas"/>
              </a:rPr>
              <a:t>CONNECTOR · Charge Payment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74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66073"/>
                </a:solidFill>
                <a:latin typeface="Consolas"/>
              </a:rPr>
              <a:t>INBOUND CONNECTOR · Order Canceled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517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8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Service Task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type: ship-order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2651760"/>
            <a:ext cx="228600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Python Worker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order_workers.py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852928"/>
            <a:ext cx="1371600" cy="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60320" y="2633472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66073"/>
                </a:solidFill>
                <a:latin typeface="Consolas"/>
              </a:rPr>
              <a:t>polls &amp; activates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560320" y="3090672"/>
            <a:ext cx="1371600" cy="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60320" y="3310128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66073"/>
                </a:solidFill>
                <a:latin typeface="Consolas"/>
              </a:rPr>
              <a:t>completes job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529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gRPC :26500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Service Task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type: http-json:1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4023360"/>
            <a:ext cx="21031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8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REST Connector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built-in, zero 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40233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payment_service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:8001/charge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60320" y="4343400"/>
            <a:ext cx="548640" cy="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12080" y="4343400"/>
            <a:ext cx="548640" cy="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12080" y="4069080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66073"/>
                </a:solidFill>
                <a:latin typeface="Consolas"/>
              </a:rPr>
              <a:t>HTTP POST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9496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order_service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POST /cancel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539496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E88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Webhook Connector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/inbound/order-canceled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5394960"/>
            <a:ext cx="21031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300" b="1">
                <a:solidFill>
                  <a:srgbClr val="12151B"/>
                </a:solidFill>
                <a:latin typeface="Segoe UI"/>
              </a:rPr>
              <a:t>Boundary Event</a:t>
            </a:r>
          </a:p>
          <a:p>
            <a:pPr algn="ctr"/>
            <a:r>
              <a:rPr sz="950">
                <a:solidFill>
                  <a:srgbClr val="566073"/>
                </a:solidFill>
                <a:latin typeface="Consolas"/>
              </a:rPr>
              <a:t>message, on Confirm Delivery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60320" y="5715000"/>
            <a:ext cx="548640" cy="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560320" y="5440680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66073"/>
                </a:solidFill>
                <a:latin typeface="Consolas"/>
              </a:rPr>
              <a:t>HTTP POST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03520" y="5715000"/>
            <a:ext cx="640080" cy="0"/>
          </a:xfrm>
          <a:prstGeom prst="line">
            <a:avLst/>
          </a:prstGeom>
          <a:ln w="15875">
            <a:solidFill>
              <a:srgbClr val="5660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0" y="5440680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566073"/>
                </a:solidFill>
                <a:latin typeface="Consolas"/>
              </a:rPr>
              <a:t>correlates by orderId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Camunda 8 · order-fulfillment 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TODAY'S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2151B"/>
                </a:solidFill>
                <a:latin typeface="Consolas"/>
              </a:rPr>
              <a:t>Order Fulfillment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66073"/>
                </a:solidFill>
                <a:latin typeface="Segoe UI"/>
              </a:rPr>
              <a:t>Same happy path as before -- now with six ways an instance can actually end.</a:t>
            </a:r>
          </a:p>
        </p:txBody>
      </p:sp>
      <p:pic>
        <p:nvPicPr>
          <p:cNvPr id="6" name="Picture 5" descr="process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77440"/>
            <a:ext cx="11247120" cy="50027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Camunda 8 · order-fulfillment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WHEN IT BREAKS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2151B"/>
                </a:solidFill>
                <a:latin typeface="Consolas"/>
              </a:rPr>
              <a:t>No crash. No redeploy.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66073"/>
                </a:solidFill>
                <a:latin typeface="Segoe UI"/>
              </a:rPr>
              <a:t>Bad input reaches the worker -- instead of losing the instance, Zeebe holds it exactly where it failed.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77440"/>
            <a:ext cx="7772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ctr"/>
            <a:r>
              <a:rPr sz="1300">
                <a:solidFill>
                  <a:srgbClr val="12151B"/>
                </a:solidFill>
                <a:latin typeface="Consolas"/>
              </a:rPr>
              <a:t>POST /orders {"order_id":"ORD-1003","quantity":0}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77724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4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127000" wrap="square"/>
          <a:lstStyle/>
          <a:p>
            <a:pPr algn="l"/>
            <a:r>
              <a:rPr sz="1000" b="1">
                <a:solidFill>
                  <a:srgbClr val="C0433A"/>
                </a:solidFill>
                <a:latin typeface="Consolas"/>
              </a:rPr>
              <a:t>INCIDENT · Task_ValidateOrder</a:t>
            </a:r>
          </a:p>
          <a:p>
            <a:pPr algn="l"/>
            <a:r>
              <a:rPr sz="1200">
                <a:solidFill>
                  <a:srgbClr val="12151B"/>
                </a:solidFill>
                <a:latin typeface="Consolas"/>
              </a:rPr>
              <a:t>Failed job. Error: Invalid quantity 0 for order ORD-1003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433A"/>
                </a:solidFill>
                <a:latin typeface="Consolas"/>
              </a:rPr>
              <a:t>WITHOUT ORCHESTRATION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66073"/>
                </a:solidFill>
                <a:latin typeface="Segoe UI"/>
              </a:rPr>
              <a:t>A failed script exits. Someone notices a missing order, hours later, from a support ticket.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2976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8F5B"/>
                </a:solidFill>
                <a:latin typeface="Consolas"/>
              </a:rPr>
              <a:t>WITH ZEEBE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66344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66073"/>
                </a:solidFill>
                <a:latin typeface="Segoe UI"/>
              </a:rPr>
              <a:t>Operate shows the exact instance and error. Fix the variable, click retry, the instance continues -- mid-flow.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Camunda 8 · order-fulfillment 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2151B"/>
                </a:solidFill>
                <a:latin typeface="Consolas"/>
              </a:rPr>
              <a:t>What you actually get.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1005840" cy="365760"/>
          </a:xfrm>
          <a:prstGeom prst="roundRect">
            <a:avLst/>
          </a:prstGeom>
          <a:noFill/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8871F"/>
                </a:solidFill>
                <a:latin typeface="Consolas"/>
              </a:rPr>
              <a:t>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05740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2151B"/>
                </a:solidFill>
                <a:latin typeface="Segoe UI"/>
              </a:rPr>
              <a:t>Every instance, live.  </a:t>
            </a:r>
            <a:r>
              <a:rPr sz="1500">
                <a:solidFill>
                  <a:srgbClr val="566073"/>
                </a:solidFill>
                <a:latin typeface="Segoe UI"/>
              </a:rPr>
              <a:t>We forced a real incident earlier -- Operate showed the exact failed variable and a one-click retry, not a log line to go reconstruct after the fact.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54680"/>
            <a:ext cx="1005840" cy="365760"/>
          </a:xfrm>
          <a:prstGeom prst="roundRect">
            <a:avLst/>
          </a:prstGeom>
          <a:noFill/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8871F"/>
                </a:solidFill>
                <a:latin typeface="Consolas"/>
              </a:rPr>
              <a:t>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310896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2151B"/>
                </a:solidFill>
                <a:latin typeface="Segoe UI"/>
              </a:rPr>
              <a:t>Reroute without a deploy.  </a:t>
            </a:r>
            <a:r>
              <a:rPr sz="1500">
                <a:solidFill>
                  <a:srgbClr val="566073"/>
                </a:solidFill>
                <a:latin typeface="Segoe UI"/>
              </a:rPr>
              <a:t>The in-stock threshold is a row in process/dmn/stock-check.dmn, not a Python if -- change the number, redeploy the table, zero code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06240"/>
            <a:ext cx="1005840" cy="365760"/>
          </a:xfrm>
          <a:prstGeom prst="roundRect">
            <a:avLst/>
          </a:prstGeom>
          <a:noFill/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8871F"/>
                </a:solidFill>
                <a:latin typeface="Consolas"/>
              </a:rPr>
              <a:t>mix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416052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2151B"/>
                </a:solidFill>
                <a:latin typeface="Segoe UI"/>
              </a:rPr>
              <a:t>Any language, per step.  </a:t>
            </a:r>
            <a:r>
              <a:rPr sz="1500">
                <a:solidFill>
                  <a:srgbClr val="566073"/>
                </a:solidFill>
                <a:latin typeface="Segoe UI"/>
              </a:rPr>
              <a:t>The order-triggering service is Python; the payment service the connector calls is Node -- proven today, not hypothetical.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57800"/>
            <a:ext cx="1005840" cy="365760"/>
          </a:xfrm>
          <a:prstGeom prst="roundRect">
            <a:avLst/>
          </a:prstGeom>
          <a:noFill/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E8871F"/>
                </a:solidFill>
                <a:latin typeface="Consolas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21208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2151B"/>
                </a:solidFill>
                <a:latin typeface="Segoe UI"/>
              </a:rPr>
              <a:t>Nothing silently drops.  </a:t>
            </a:r>
            <a:r>
              <a:rPr sz="1500">
                <a:solidFill>
                  <a:srgbClr val="566073"/>
                </a:solidFill>
                <a:latin typeface="Segoe UI"/>
              </a:rPr>
              <a:t>Two different failure modes, two different outcomes: an unhandled bug becomes a visible incident; a declined payment becomes a modeled path, not a crash. We triggered both.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Camunda 8 · order-fulfillment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BEFORE ANYONE 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2151B"/>
                </a:solidFill>
                <a:latin typeface="Consolas"/>
              </a:rPr>
              <a:t>What this doesn't prove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66073"/>
                </a:solidFill>
                <a:latin typeface="Segoe UI"/>
              </a:rPr>
              <a:t>Breadth of BPMN concepts is covered. Two different kinds of gap remain, and they're not the same kind of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66073"/>
                </a:solidFill>
                <a:latin typeface="Consolas"/>
              </a:rPr>
              <a:t>FEATURE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2151B"/>
                </a:solidFill>
                <a:latin typeface="Segoe UI"/>
              </a:rPr>
              <a:t>Parallel / inclusive gateways -- </a:t>
            </a:r>
            <a:r>
              <a:rPr sz="1300">
                <a:solidFill>
                  <a:srgbClr val="566073"/>
                </a:solidFill>
                <a:latin typeface="Segoe UI"/>
              </a:rPr>
              <a:t>only the exclusive gateway exists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947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2151B"/>
                </a:solidFill>
                <a:latin typeface="Segoe UI"/>
              </a:rPr>
              <a:t>Compensation events -- </a:t>
            </a:r>
            <a:r>
              <a:rPr sz="1300">
                <a:solidFill>
                  <a:srgbClr val="566073"/>
                </a:solidFill>
                <a:latin typeface="Segoe UI"/>
              </a:rPr>
              <a:t>Cancel Order doesn't roll back a reservation or a charge.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2151B"/>
                </a:solidFill>
                <a:latin typeface="Segoe UI"/>
              </a:rPr>
              <a:t>Process versioning &amp; migration -- </a:t>
            </a:r>
            <a:r>
              <a:rPr sz="1300">
                <a:solidFill>
                  <a:srgbClr val="566073"/>
                </a:solidFill>
                <a:latin typeface="Segoe UI"/>
              </a:rPr>
              <a:t>deploying v2 of a running process, live.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5146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PRODUCTION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92608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2151B"/>
                </a:solidFill>
                <a:latin typeface="Segoe UI"/>
              </a:rPr>
              <a:t>Auth -- </a:t>
            </a:r>
            <a:r>
              <a:rPr sz="1300">
                <a:solidFill>
                  <a:srgbClr val="566073"/>
                </a:solidFill>
                <a:latin typeface="Segoe UI"/>
              </a:rPr>
              <a:t>still the default demo/demo login; Identity untouched.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79476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2151B"/>
                </a:solidFill>
                <a:latin typeface="Segoe UI"/>
              </a:rPr>
              <a:t>Storage -- </a:t>
            </a:r>
            <a:r>
              <a:rPr sz="1300">
                <a:solidFill>
                  <a:srgbClr val="566073"/>
                </a:solidFill>
                <a:latin typeface="Segoe UI"/>
              </a:rPr>
              <a:t>H2, single-node, file-based; production needs the Elasticsearch exporter or SaaS.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6634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12151B"/>
                </a:solidFill>
                <a:latin typeface="Segoe UI"/>
              </a:rPr>
              <a:t>Observability &amp; HA -- </a:t>
            </a:r>
            <a:r>
              <a:rPr sz="1300">
                <a:solidFill>
                  <a:srgbClr val="566073"/>
                </a:solidFill>
                <a:latin typeface="Segoe UI"/>
              </a:rPr>
              <a:t>Operate's UI only, no alerting; one broker container, not a cluster.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350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66073"/>
                </a:solidFill>
                <a:latin typeface="Segoe UI"/>
              </a:rPr>
              <a:t>The left column is "haven't gotten to it yet." The right column is "deliberately out of scope for a local demo" -- worth being explicit about which is which.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Camunda 8 · order-fulfillment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66073"/>
                </a:solidFill>
                <a:latin typeface="Consolas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871F"/>
                </a:solidFill>
                <a:latin typeface="Consolas"/>
              </a:rPr>
              <a:t>THANKS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12151B"/>
                </a:solidFill>
                <a:latin typeface="Consolas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77639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566073"/>
                </a:solidFill>
                <a:latin typeface="Segoe UI"/>
              </a:rPr>
              <a:t>Repo, BPMN file, and worker code are all right here -- happy to walk through any piece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66073"/>
                </a:solidFill>
                <a:latin typeface="Consolas"/>
              </a:rPr>
              <a:t>camunda8-lab / bpmn / dmn / forms / workers / services_python / services_node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