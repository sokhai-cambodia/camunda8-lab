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2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3444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206240"/>
            <a:ext cx="3291840" cy="329184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148840"/>
            <a:ext cx="9144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CAMUNDA 8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85800" y="3063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Orchestration — Order Fulfillment Demo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" y="3977640"/>
            <a:ext cx="502920" cy="384048"/>
          </a:xfrm>
          <a:prstGeom prst="rect">
            <a:avLst/>
          </a:prstGeom>
          <a:solidFill>
            <a:srgbClr val="0FA3A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397764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325880" y="395020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completed end to end — happy path, backorder, incident/retry, decline, cancel, and escalation all verified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Camunda 8?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63093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cloud-native process orchestration platform.</a:t>
            </a:r>
            <a:endParaRPr lang="en-US" sz="1500" dirty="0"/>
          </a:p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BPMN diagram is the executable process — no separate hand-off from design to code.</a:t>
            </a:r>
            <a:endParaRPr lang="en-US" sz="1500" dirty="0"/>
          </a:p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Zeebe, the core engine, is horizontally scalable and event-sourced, coordinating work over gRPC.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by design — job workers and services can be Python, Node, Java, or anything with a gRPC/REST client.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0" y="1234440"/>
            <a:ext cx="4297680" cy="301752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</p:spPr>
      </p:sp>
      <p:sp>
        <p:nvSpPr>
          <p:cNvPr id="5" name="Text 3"/>
          <p:cNvSpPr/>
          <p:nvPr/>
        </p:nvSpPr>
        <p:spPr>
          <a:xfrm>
            <a:off x="763524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tested it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35240" y="196596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independent processes</a:t>
            </a:r>
            <a:endParaRPr lang="en-US" sz="1300" dirty="0"/>
          </a:p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languages, 2 protocols — none aware of each other's internals, only the contracts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code changes to redeploy logic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BPMN/DMN/forms, redeploy, next order picks up the new version automatically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4617720"/>
            <a:ext cx="11064240" cy="14173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4709160"/>
            <a:ext cx="10424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Camunda actually is: BPMN defines what should happen and in what order. Job workers and connectors define how each step gets done. Zeebe guarantees the process moves forward correctly — across crashes, retries, and scale.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Architecture: five processes, three languages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know about each other's internals — only the contracts (job types, HTTP routes, message names)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422452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40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Language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Talks to Zeebe via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 (Zeebe)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  (is the engine)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Engine, plus Operate &amp; Tasklist UIs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connectors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Java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gRPC (built-in worker)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Outbound calls + hosts inbound webhooks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order_service.py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(FastAPI)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gRPC (pyzeebe client)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 / cancels process instances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order_workers.py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(pyzeebe)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gRPC (job worker)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Runs every task except connector-backed ones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40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payment_service.js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 (Express)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— plain HTTP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D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Called by the connector; unaware Camunda exists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94360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EAF6F6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594360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 payment service exists specifically to prove the point: the connector calling it doesn't know or care that it isn't Python.</a:t>
            </a:r>
            <a:endParaRPr lang="en-US" sz="12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fulfillment: one process, several endings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447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3852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multi-instance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per line item)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2880360" y="1371600"/>
            <a:ext cx="320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137160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14447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193852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worker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532120" y="1371600"/>
            <a:ext cx="320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852160" y="137160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5852160" y="14447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852160" y="193852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DMN decision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8183880" y="1371600"/>
            <a:ext cx="320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503920" y="1371600"/>
            <a:ext cx="2331720" cy="1051560"/>
          </a:xfrm>
          <a:prstGeom prst="roundRect">
            <a:avLst>
              <a:gd name="adj" fmla="val 8696"/>
            </a:avLst>
          </a:prstGeom>
          <a:solidFill>
            <a:srgbClr val="0FA3A3"/>
          </a:solidFill>
          <a:ln/>
        </p:spPr>
      </p:sp>
      <p:sp>
        <p:nvSpPr>
          <p:cNvPr id="16" name="Text 14"/>
          <p:cNvSpPr/>
          <p:nvPr/>
        </p:nvSpPr>
        <p:spPr>
          <a:xfrm>
            <a:off x="8503920" y="1444752"/>
            <a:ext cx="2331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Stock?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503920" y="1938528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2788920"/>
            <a:ext cx="3566160" cy="3063240"/>
          </a:xfrm>
          <a:prstGeom prst="roundRect">
            <a:avLst>
              <a:gd name="adj" fmla="val 2985"/>
            </a:avLst>
          </a:prstGeom>
          <a:solidFill>
            <a:srgbClr val="F4F6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788920"/>
            <a:ext cx="35661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7889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stock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347472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Payment (REST connector)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Order → Confirm Delivery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3-way race: complete / timer / cancel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370832" y="2788920"/>
            <a:ext cx="3566160" cy="3063240"/>
          </a:xfrm>
          <a:prstGeom prst="roundRect">
            <a:avLst>
              <a:gd name="adj" fmla="val 2985"/>
            </a:avLst>
          </a:prstGeom>
          <a:solidFill>
            <a:srgbClr val="F4F6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70832" y="2788920"/>
            <a:ext cx="3566160" cy="502920"/>
          </a:xfrm>
          <a:prstGeom prst="rect">
            <a:avLst/>
          </a:prstGeom>
          <a:solidFill>
            <a:srgbClr val="5B6B9E"/>
          </a:solidFill>
          <a:ln/>
        </p:spPr>
      </p:sp>
      <p:sp>
        <p:nvSpPr>
          <p:cNvPr id="24" name="Text 22"/>
          <p:cNvSpPr/>
          <p:nvPr/>
        </p:nvSpPr>
        <p:spPr>
          <a:xfrm>
            <a:off x="4370832" y="27889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stock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99432" y="347472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Backorder (job worker)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Ends: Order Backordered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193024" y="2788920"/>
            <a:ext cx="3566160" cy="3063240"/>
          </a:xfrm>
          <a:prstGeom prst="roundRect">
            <a:avLst>
              <a:gd name="adj" fmla="val 2985"/>
            </a:avLst>
          </a:prstGeom>
          <a:solidFill>
            <a:srgbClr val="F4F6FC"/>
          </a:solidFill>
          <a:ln w="12700">
            <a:solidFill>
              <a:srgbClr val="E3E7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93024" y="2788920"/>
            <a:ext cx="3566160" cy="50292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28" name="Text 26"/>
          <p:cNvSpPr/>
          <p:nvPr/>
        </p:nvSpPr>
        <p:spPr>
          <a:xfrm>
            <a:off x="8193024" y="27889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declined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421624" y="3474720"/>
            <a:ext cx="31089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errorExpression → BPMN error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event catches it</a:t>
            </a:r>
            <a:endParaRPr lang="en-US" sz="11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50" dirty="0">
                <a:solidFill>
                  <a:srgbClr val="1D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Ends: Order Payment Failed (handled, no incident)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Features demonstrated in the lab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1463040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63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45389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BPMN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is the executable process — no design-to-code translation step.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97680" y="12344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9" name="Shape 7"/>
          <p:cNvSpPr/>
          <p:nvPr/>
        </p:nvSpPr>
        <p:spPr>
          <a:xfrm>
            <a:off x="4526280" y="1463040"/>
            <a:ext cx="566928" cy="56692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463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57800" y="145389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Connectors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26280" y="214884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REST (Charge Payment) and inbound Webhook (order cancel), no custom code.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046720" y="123444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8275320" y="1463040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1463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06840" y="145389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DMN tables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214884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In-stock/out-of-stock logic modeled as a decision table, called like any other task.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48640" y="347472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703320"/>
            <a:ext cx="566928" cy="56692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7033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08760" y="369417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Camunda Forms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" y="43891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Tasklist renders a real form from JSON schema instead of a bare 'complete task' button.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97680" y="347472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24" name="Shape 22"/>
          <p:cNvSpPr/>
          <p:nvPr/>
        </p:nvSpPr>
        <p:spPr>
          <a:xfrm>
            <a:off x="4526280" y="3703320"/>
            <a:ext cx="566928" cy="56692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37033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257800" y="369417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Boundary events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26280" y="43891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Timer, error, and message events race a task — first one wins, interrupts the rest.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8046720" y="3474720"/>
            <a:ext cx="3611880" cy="1965960"/>
          </a:xfrm>
          <a:prstGeom prst="roundRect">
            <a:avLst>
              <a:gd name="adj" fmla="val 4651"/>
            </a:avLst>
          </a:prstGeom>
          <a:solidFill>
            <a:srgbClr val="F4F6FC"/>
          </a:solidFill>
          <a:ln/>
        </p:spPr>
      </p:sp>
      <p:sp>
        <p:nvSpPr>
          <p:cNvPr id="29" name="Shape 27"/>
          <p:cNvSpPr/>
          <p:nvPr/>
        </p:nvSpPr>
        <p:spPr>
          <a:xfrm>
            <a:off x="8275320" y="3703320"/>
            <a:ext cx="566928" cy="56692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37033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006840" y="3694176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Multi-instance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75320" y="438912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Items runs once per line item automatically from a single collection.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Operability: fix and resume, no redeploy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bad input (quantity = 0) to trigger an unhandled exception in Operate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595628" y="1764792"/>
            <a:ext cx="512064" cy="512064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95628" y="17647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377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raised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69748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flags the instance with a red incident badge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154680" y="1600200"/>
            <a:ext cx="20116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355848" y="16002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4402836" y="1764792"/>
            <a:ext cx="512064" cy="512064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02836" y="17647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93008" y="2377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Root cause visible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93008" y="269748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exception message and stack trace shown inline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961888" y="1600200"/>
            <a:ext cx="20116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163056" y="16002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17" name="Shape 15"/>
          <p:cNvSpPr/>
          <p:nvPr/>
        </p:nvSpPr>
        <p:spPr>
          <a:xfrm>
            <a:off x="7210044" y="1764792"/>
            <a:ext cx="512064" cy="512064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10044" y="17647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0216" y="2377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 live variable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300216" y="269748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the bad value (quantity) directly in Operate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769096" y="1600200"/>
            <a:ext cx="201168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970264" y="1600200"/>
            <a:ext cx="2606040" cy="1554480"/>
          </a:xfrm>
          <a:prstGeom prst="roundRect">
            <a:avLst>
              <a:gd name="adj" fmla="val 5882"/>
            </a:avLst>
          </a:prstGeom>
          <a:solidFill>
            <a:srgbClr val="1E2761"/>
          </a:solidFill>
          <a:ln/>
        </p:spPr>
      </p:sp>
      <p:sp>
        <p:nvSpPr>
          <p:cNvPr id="23" name="Shape 21"/>
          <p:cNvSpPr/>
          <p:nvPr/>
        </p:nvSpPr>
        <p:spPr>
          <a:xfrm>
            <a:off x="10017252" y="1764792"/>
            <a:ext cx="512064" cy="512064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17252" y="176479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07424" y="237744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107424" y="269748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re-executes; the instance continues from where it failed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48640" y="3337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deploy. No restart. No lost work.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Also verified end to end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48640" y="4434840"/>
            <a:ext cx="5532120" cy="173736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Cancel via webhook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77240" y="4937760"/>
            <a:ext cx="5074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POST correlates by orderId to a message boundary event — same mechanism a customer portal would use.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263640" y="4434840"/>
            <a:ext cx="5532120" cy="1737360"/>
          </a:xfrm>
          <a:prstGeom prst="roundRect">
            <a:avLst>
              <a:gd name="adj" fmla="val 5263"/>
            </a:avLst>
          </a:prstGeom>
          <a:solidFill>
            <a:srgbClr val="F4F6FC"/>
          </a:solidFill>
          <a:ln/>
        </p:spPr>
      </p:sp>
      <p:sp>
        <p:nvSpPr>
          <p:cNvPr id="33" name="Text 31"/>
          <p:cNvSpPr/>
          <p:nvPr/>
        </p:nvSpPr>
        <p:spPr>
          <a:xfrm>
            <a:off x="6492240" y="4572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Timeout escalation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492240" y="4937760"/>
            <a:ext cx="5074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 boundary fires on its own after 1 min of inaction — escalates to manager, no manual trigger needed.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645920"/>
            <a:ext cx="3657600" cy="3657600"/>
          </a:xfrm>
          <a:prstGeom prst="ellipse">
            <a:avLst/>
          </a:prstGeom>
          <a:solidFill>
            <a:srgbClr val="26308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 &amp; next steps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confirmed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Polyglot orchestration works as advertised — Python, Node, Java coexist without coupling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lifecycle tested: happy path, backorder, incident/retry, decline, cancel, escalation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gives live recovery from bad data — no redeploy required</a:t>
            </a:r>
            <a:endParaRPr lang="en-US" sz="135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Self-managed footprint kept lean (H2, no Elasticsearch/Keycloak needed for this scope)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0" y="146304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263080"/>
          </a:solidFill>
          <a:ln/>
        </p:spPr>
      </p:sp>
      <p:sp>
        <p:nvSpPr>
          <p:cNvPr id="7" name="Text 5"/>
          <p:cNvSpPr/>
          <p:nvPr/>
        </p:nvSpPr>
        <p:spPr>
          <a:xfrm>
            <a:off x="6720840" y="1691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A3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next steps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20840" y="2103120"/>
            <a:ext cx="461772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 real candidate process (e.g. loan approval or customer onboarding) for a pilot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Elasticsearch + Identity/Keycloak requirements for Optimize &amp; production SSO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data-residency posture (self-managed) with existing WSO2 IS / Vault standards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an ADR for process-orchestration adoption in crm-system-document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309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Fulfillment Lab — tested and ready to discuss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GTBClassification>
  <attrValue xml:space="preserve">Internal</attrValue>
  <customPropName>Wing Bank Classification</customPropName>
  <timestamp>7/30/2026 3:46:39 PM</timestamp>
  <userName>WINGMONEY\hai.sok</userName>
  <computerName>B2186-HAI.WINGMONEY.COM</computerName>
  <guid>{11c2fef7-c9d3-49c5-91fc-85e98af9c441}</guid>
</GTBClassification>
</file>

<file path=customXml/itemProps1.xml><?xml version="1.0" encoding="utf-8"?>
<ds:datastoreItem xmlns:ds="http://schemas.openxmlformats.org/officeDocument/2006/customXml" ds:itemID="{9926B8F4-7D2E-4510-86A3-16C328758F3E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786</Words>
  <Application>Microsoft Office PowerPoint</Application>
  <PresentationFormat>Widescreen</PresentationFormat>
  <Paragraphs>131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keywords>ClassificationData:&lt;Wing Bank Classification:Internal&gt;</cp:keywords>
  <cp:lastModifiedBy>Hai Sok</cp:lastModifiedBy>
  <cp:revision>2</cp:revision>
  <dcterms:created xsi:type="dcterms:W3CDTF">2026-07-30T08:41:10Z</dcterms:created>
  <dcterms:modified xsi:type="dcterms:W3CDTF">2026-07-30T08:46:39Z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Wing Bank Classification">
    <vt:lpwstr>Internal</vt:lpwstr>
  </property>
  <property fmtid="{D5CDD505-2E9C-101B-9397-08002B2CF9AE}" pid="3" name="ClassifiedBy">
    <vt:lpwstr>WINGMONEY\hai.sok</vt:lpwstr>
  </property>
  <property fmtid="{D5CDD505-2E9C-101B-9397-08002B2CF9AE}" pid="4" name="ClassificationHost">
    <vt:lpwstr>B2186-HAI.WINGMONEY.COM</vt:lpwstr>
  </property>
  <property fmtid="{D5CDD505-2E9C-101B-9397-08002B2CF9AE}" pid="5" name="ClassificationDate">
    <vt:lpwstr>7/30/2026 3:46:39 PM</vt:lpwstr>
  </property>
  <property fmtid="{D5CDD505-2E9C-101B-9397-08002B2CF9AE}" pid="6" name="ClassificationGUID">
    <vt:lpwstr>{11c2fef7-c9d3-49c5-91fc-85e98af9c441}</vt:lpwstr>
  </property>
</Properties>
</file>