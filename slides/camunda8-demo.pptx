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2151B"/>
                </a:solidFill>
                <a:latin typeface="Consolas"/>
              </a:rPr>
              <a:t>Camunda 8,
running for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A hands-on exploration: one BPMN process, a Python worker, in/outbound connectors, a DMN decision, a form, and every boundary event type -- deployed, run, and broken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073"/>
                </a:solidFill>
                <a:latin typeface="Consolas"/>
              </a:rPr>
              <a:t>Zeebe · Operate · Tasklist  —  localhost:8080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WHY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Business logic, scattered.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91440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326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2151B"/>
                </a:solidFill>
                <a:latin typeface="Segoe UI"/>
              </a:rPr>
              <a:t>Process steps live inside cron jobs, message handlers, and tribal knowledge -- no single place shows what a process actually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91440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9326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2151B"/>
                </a:solidFill>
                <a:latin typeface="Segoe UI"/>
              </a:rPr>
              <a:t>When something is stuck, you grep logs across five services to find out why.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91440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23360"/>
            <a:ext cx="9326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2151B"/>
                </a:solidFill>
                <a:latin typeface="Segoe UI"/>
              </a:rPr>
              <a:t>Changing the order of steps means a code change, a review, and a deploy.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One diagram, executed.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BPMN isn't documentation of the process -- it IS the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BPMN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The diagram. Defines steps, order, and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33172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Zeebe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The engine. Runs instances, scales horizontally.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33172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DMN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Decision tables, modeled separately. A business rule task calls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Connectors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Prebuilt steps, configured not coded -- outbound (Charge Payment) and inbound (webhook).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9476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Forms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A JSON schema on a user task -- Tasklist renders it, no frontend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9476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Boundary events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Timer, error, and message -- three ways to interrupt a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78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Multi-instance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Run one activity per element of a collection, not once per instance.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2578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Operate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Watch every instance live. See exactly where it's stuck.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2578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Tasklist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Where humans complete the manual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Five processes, three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None of them know the others' internals -- only the contracts.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377440"/>
            <a:ext cx="4114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orchestration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Zeebe :26500 gRPC · Operate/Tasklist :8080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order_service.py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Python · FastAPI · :8000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393192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connectors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:8086 · outbound + inbound webhook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8348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order_workers.py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Python · pyzeebe · long-poll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98348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payment_service.js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Node · Express · :8001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566160" y="2880360"/>
            <a:ext cx="457200" cy="118872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66160" y="363931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gRPC: deploy / start / cancel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566160" y="3063240"/>
            <a:ext cx="457200" cy="228600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66160" y="576072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gRPC: poll / activate / complete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2880360"/>
            <a:ext cx="548640" cy="118872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0" y="320040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gRPC job (built-in worker)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40" y="4663440"/>
            <a:ext cx="0" cy="32004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49840" y="468172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HTTP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HOW A STEP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Code, or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Three tasks in the same diagram, wired three different ways -- same engine, same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66073"/>
                </a:solidFill>
                <a:latin typeface="Consolas"/>
              </a:rPr>
              <a:t>JOB WORKER · Ship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66073"/>
                </a:solidFill>
                <a:latin typeface="Consolas"/>
              </a:rPr>
              <a:t>CONNECTOR · Charge 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66073"/>
                </a:solidFill>
                <a:latin typeface="Consolas"/>
              </a:rPr>
              <a:t>INBOUND CONNECTOR · Order Canceled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Service Task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type: ship-order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651760"/>
            <a:ext cx="22860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Python Worker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order_workers.py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852928"/>
            <a:ext cx="137160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60320" y="263347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polls &amp; activates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560320" y="3090672"/>
            <a:ext cx="137160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320" y="331012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completes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52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gRPC :26500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Service Task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type: http-json:1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02336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REST Connector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built-in, zero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0233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payment_service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:8001/charge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4343400"/>
            <a:ext cx="54864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4343400"/>
            <a:ext cx="54864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12080" y="40690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HTTP POST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949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order_service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POST /cancel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539496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Webhook Connector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/inbound/order-canceled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539496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Boundary Event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message, on Confirm Delivery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5715000"/>
            <a:ext cx="54864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60320" y="54406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HTTP POST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0" y="5715000"/>
            <a:ext cx="64008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0" y="544068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correlates by orderId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TODAY'S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Order 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Same happy path as before -- now with six ways an instance can actually end.</a:t>
            </a:r>
          </a:p>
        </p:txBody>
      </p:sp>
      <p:pic>
        <p:nvPicPr>
          <p:cNvPr id="6" name="Picture 5" descr="screenshot-178532844653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11247120" cy="33999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WHEN IT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No crash. No redeploy.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Bad input reaches the worker -- instead of losing the instance, Zeebe holds it exactly where it failed.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/>
            <a:r>
              <a:rPr sz="1300">
                <a:solidFill>
                  <a:srgbClr val="12151B"/>
                </a:solidFill>
                <a:latin typeface="Consolas"/>
              </a:rPr>
              <a:t>POST /orders {"order_id":"ORD-1003","quantity":0}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4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 wrap="square"/>
          <a:lstStyle/>
          <a:p>
            <a:pPr algn="l"/>
            <a:r>
              <a:rPr sz="1000" b="1">
                <a:solidFill>
                  <a:srgbClr val="C0433A"/>
                </a:solidFill>
                <a:latin typeface="Consolas"/>
              </a:rPr>
              <a:t>INCIDENT · Task_ValidateOrder</a:t>
            </a:r>
          </a:p>
          <a:p>
            <a:pPr algn="l"/>
            <a:r>
              <a:rPr sz="1200">
                <a:solidFill>
                  <a:srgbClr val="12151B"/>
                </a:solidFill>
                <a:latin typeface="Consolas"/>
              </a:rPr>
              <a:t>Failed job. Error: Invalid quantity 0 for order ORD-1003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433A"/>
                </a:solidFill>
                <a:latin typeface="Consolas"/>
              </a:rPr>
              <a:t>WITHOUT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66073"/>
                </a:solidFill>
                <a:latin typeface="Segoe UI"/>
              </a:rPr>
              <a:t>A failed script exits. Someone notices a missing order, hours later, from a support ticket.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F5B"/>
                </a:solidFill>
                <a:latin typeface="Consolas"/>
              </a:rPr>
              <a:t>WITH ZEEBE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6634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66073"/>
                </a:solidFill>
                <a:latin typeface="Segoe UI"/>
              </a:rPr>
              <a:t>Operate shows the exact instance and error. Fix the variable, click retry, the instance continues -- mid-flow.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What you actually 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0584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5740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2151B"/>
                </a:solidFill>
                <a:latin typeface="Segoe UI"/>
              </a:rPr>
              <a:t>Every instance, live.  </a:t>
            </a:r>
            <a:r>
              <a:rPr sz="1500">
                <a:solidFill>
                  <a:srgbClr val="566073"/>
                </a:solidFill>
                <a:latin typeface="Segoe UI"/>
              </a:rPr>
              <a:t>Not logs to reconstruct -- an actual, current picture of what's running and where it's stuck.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100584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10896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2151B"/>
                </a:solidFill>
                <a:latin typeface="Segoe UI"/>
              </a:rPr>
              <a:t>Reroute without a deploy.  </a:t>
            </a:r>
            <a:r>
              <a:rPr sz="1500">
                <a:solidFill>
                  <a:srgbClr val="566073"/>
                </a:solidFill>
                <a:latin typeface="Segoe UI"/>
              </a:rPr>
              <a:t>The gateway condition reads a DMN decision, not a code branch.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06240"/>
            <a:ext cx="100584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16052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2151B"/>
                </a:solidFill>
                <a:latin typeface="Segoe UI"/>
              </a:rPr>
              <a:t>Any language, per step.  </a:t>
            </a:r>
            <a:r>
              <a:rPr sz="1500">
                <a:solidFill>
                  <a:srgbClr val="566073"/>
                </a:solidFill>
                <a:latin typeface="Segoe UI"/>
              </a:rPr>
              <a:t>The order-triggering service is Python; the payment service the connector calls is Node -- proven, not hypothetical.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0584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120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2151B"/>
                </a:solidFill>
                <a:latin typeface="Segoe UI"/>
              </a:rPr>
              <a:t>Nothing silently drops.  </a:t>
            </a:r>
            <a:r>
              <a:rPr sz="1500">
                <a:solidFill>
                  <a:srgbClr val="566073"/>
                </a:solidFill>
                <a:latin typeface="Segoe UI"/>
              </a:rPr>
              <a:t>A failed job becomes a visible, fixable incident; a business failure becomes a modeled boundary event.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HONEST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What I'd explore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Breadth is covered. These are the remaining depth items -- none need new infrastructure.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04872"/>
            <a:ext cx="109728" cy="109728"/>
          </a:xfrm>
          <a:prstGeom prst="ellipse">
            <a:avLst/>
          </a:prstGeom>
          <a:solidFill>
            <a:srgbClr val="E8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2151B"/>
                </a:solidFill>
                <a:latin typeface="Segoe UI"/>
              </a:rPr>
              <a:t>Parallel / inclusive gateways  </a:t>
            </a:r>
            <a:r>
              <a:rPr sz="1450">
                <a:solidFill>
                  <a:srgbClr val="566073"/>
                </a:solidFill>
                <a:latin typeface="Segoe UI"/>
              </a:rPr>
              <a:t>AND/OR splits -- today there's only the exclusive gateway.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182112"/>
            <a:ext cx="109728" cy="109728"/>
          </a:xfrm>
          <a:prstGeom prst="ellipse">
            <a:avLst/>
          </a:prstGeom>
          <a:solidFill>
            <a:srgbClr val="E8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2151B"/>
                </a:solidFill>
                <a:latin typeface="Segoe UI"/>
              </a:rPr>
              <a:t>Compensation events  </a:t>
            </a:r>
            <a:r>
              <a:rPr sz="1450">
                <a:solidFill>
                  <a:srgbClr val="566073"/>
                </a:solidFill>
                <a:latin typeface="Segoe UI"/>
              </a:rPr>
              <a:t>The "undo" pattern -- Cancel Order doesn't yet roll back a reservation or a charge.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59352"/>
            <a:ext cx="109728" cy="109728"/>
          </a:xfrm>
          <a:prstGeom prst="ellipse">
            <a:avLst/>
          </a:prstGeom>
          <a:solidFill>
            <a:srgbClr val="E8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2151B"/>
                </a:solidFill>
                <a:latin typeface="Segoe UI"/>
              </a:rPr>
              <a:t>Message start events  </a:t>
            </a:r>
            <a:r>
              <a:rPr sz="1450">
                <a:solidFill>
                  <a:srgbClr val="566073"/>
                </a:solidFill>
                <a:latin typeface="Segoe UI"/>
              </a:rPr>
              <a:t>Starting an instance from an external event, not just a REST call.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736592"/>
            <a:ext cx="109728" cy="109728"/>
          </a:xfrm>
          <a:prstGeom prst="ellipse">
            <a:avLst/>
          </a:prstGeom>
          <a:solidFill>
            <a:srgbClr val="E8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2151B"/>
                </a:solidFill>
                <a:latin typeface="Segoe UI"/>
              </a:rPr>
              <a:t>Process versioning &amp; migration  </a:t>
            </a:r>
            <a:r>
              <a:rPr sz="1450">
                <a:solidFill>
                  <a:srgbClr val="566073"/>
                </a:solidFill>
                <a:latin typeface="Segoe UI"/>
              </a:rPr>
              <a:t>Deploying v2 of a running process and migrating in-flight instances.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513832"/>
            <a:ext cx="109728" cy="109728"/>
          </a:xfrm>
          <a:prstGeom prst="ellipse">
            <a:avLst/>
          </a:prstGeom>
          <a:solidFill>
            <a:srgbClr val="E8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50">
                <a:solidFill>
                  <a:srgbClr val="12151B"/>
                </a:solidFill>
                <a:latin typeface="Segoe UI"/>
              </a:rPr>
              <a:t>A second job-worker language  </a:t>
            </a:r>
            <a:r>
              <a:rPr sz="1450">
                <a:solidFill>
                  <a:srgbClr val="566073"/>
                </a:solidFill>
                <a:latin typeface="Segoe UI"/>
              </a:rPr>
              <a:t>payment_service.js proved connector-called services are polyglot; order_workers.py is still Python-only.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2151B"/>
                </a:solidFill>
                <a:latin typeface="Consola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Repo, BPMN file, and worker code are all right here -- happy to walk through any piece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073"/>
                </a:solidFill>
                <a:latin typeface="Consolas"/>
              </a:rPr>
              <a:t>camunda8-lab / bpmn / dmn / forms / workers / services_python / services_node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